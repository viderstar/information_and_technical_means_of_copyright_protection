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9" r:id="rId1"/>
  </p:sldMasterIdLst>
  <p:sldIdLst>
    <p:sldId id="256" r:id="rId2"/>
    <p:sldId id="257" r:id="rId3"/>
    <p:sldId id="259" r:id="rId4"/>
    <p:sldId id="260" r:id="rId5"/>
    <p:sldId id="297" r:id="rId6"/>
    <p:sldId id="298" r:id="rId7"/>
    <p:sldId id="299" r:id="rId8"/>
    <p:sldId id="300" r:id="rId9"/>
    <p:sldId id="293" r:id="rId10"/>
    <p:sldId id="261" r:id="rId11"/>
    <p:sldId id="301" r:id="rId12"/>
    <p:sldId id="303" r:id="rId13"/>
    <p:sldId id="262" r:id="rId14"/>
    <p:sldId id="264" r:id="rId15"/>
    <p:sldId id="265" r:id="rId16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6B486A77-59BC-498F-8C00-D4D3FB1BD919}">
          <p14:sldIdLst>
            <p14:sldId id="256"/>
          </p14:sldIdLst>
        </p14:section>
        <p14:section name="Раздел без заголовка" id="{1903AA17-66C4-44B6-A778-9F8A2B94C398}">
          <p14:sldIdLst>
            <p14:sldId id="257"/>
            <p14:sldId id="259"/>
            <p14:sldId id="260"/>
            <p14:sldId id="297"/>
            <p14:sldId id="298"/>
            <p14:sldId id="299"/>
            <p14:sldId id="300"/>
            <p14:sldId id="293"/>
            <p14:sldId id="261"/>
            <p14:sldId id="301"/>
            <p14:sldId id="303"/>
            <p14:sldId id="262"/>
            <p14:sldId id="264"/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52" d="100"/>
          <a:sy n="52" d="100"/>
        </p:scale>
        <p:origin x="-826" y="-14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6FBBCD9-2455-4BE5-B630-027F5FCC928C}" type="datetimeFigureOut">
              <a:rPr lang="en-US" smtClean="0"/>
              <a:pPr>
                <a:defRPr/>
              </a:pPr>
              <a:t>9/14/2022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
              </a:t>
            </a: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A36A12-B6BF-435A-9323-9E8E7DAAF5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47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886A7D8-5E83-4723-9DE1-6249B05B97F8}" type="datetimeFigureOut">
              <a:rPr lang="en-US" smtClean="0"/>
              <a:pPr>
                <a:defRPr/>
              </a:pPr>
              <a:t>9/14/2022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
              </a:t>
            </a: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1DDDA9-68F7-4CAF-8A99-647A556681C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261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DFC244F-A034-4DA8-8E95-319B15DEA129}" type="datetimeFigureOut">
              <a:rPr lang="en-US" smtClean="0"/>
              <a:pPr>
                <a:defRPr/>
              </a:pPr>
              <a:t>9/14/2022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
              </a:t>
            </a: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1C0E46-556F-494F-BC3C-34198F0D8CE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857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128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2296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0D29DE-D6C5-4D6F-9ED0-C771D94190D9}" type="datetimeFigureOut">
              <a:rPr lang="en-US" smtClean="0"/>
              <a:pPr>
                <a:defRPr/>
              </a:pPr>
              <a:t>9/14/2022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
              </a:t>
            </a:r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4A6F76-31EB-4391-95CD-F301C02D2A9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076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07478E-48E5-4B9A-BE3A-8EA89514610D}" type="datetimeFigureOut">
              <a:rPr lang="en-US" smtClean="0"/>
              <a:pPr>
                <a:defRPr/>
              </a:pPr>
              <a:t>9/14/2022</a:t>
            </a:fld>
            <a:endParaRPr lang="en-US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
              </a:t>
            </a:r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12B64B-6668-4C58-93C7-CEE7425785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324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393D567-7F0A-4CB1-9501-8787D299F3E4}" type="datetimeFigureOut">
              <a:rPr lang="en-US" smtClean="0"/>
              <a:pPr>
                <a:defRPr/>
              </a:pPr>
              <a:t>9/14/2022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
              </a:t>
            </a:r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E160DC-A7D3-4A78-A3D0-1E179506C0A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617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3D4F96-FCD1-44EC-AA9E-90E50D2F401E}" type="datetimeFigureOut">
              <a:rPr lang="en-US" smtClean="0"/>
              <a:pPr>
                <a:defRPr/>
              </a:pPr>
              <a:t>9/14/2022</a:t>
            </a:fld>
            <a:endParaRPr lang="en-US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
              </a:t>
            </a:r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EF3920-D78C-4D5E-ACB1-6E0F0949B0E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496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04AB443-9F97-4F67-84B8-AC6434597403}" type="datetimeFigureOut">
              <a:rPr lang="en-US" smtClean="0"/>
              <a:pPr>
                <a:defRPr/>
              </a:pPr>
              <a:t>9/14/2022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
              </a:t>
            </a:r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E8E096-790A-4391-AE37-7BE084DF048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083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D9513AF-6CD8-44F9-8C94-432DD078DFF0}" type="datetimeFigureOut">
              <a:rPr lang="en-US" smtClean="0"/>
              <a:pPr>
                <a:defRPr/>
              </a:pPr>
              <a:t>9/14/2022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
              </a:t>
            </a:r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B25F05-168F-4E74-8769-F8815880C7B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46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E93D37-ED6B-4C67-969D-93303222F4CB}" type="datetimeFigureOut">
              <a:rPr lang="en-US" smtClean="0"/>
              <a:pPr>
                <a:defRPr/>
              </a:pPr>
              <a:t>9/14/2022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
              </a:t>
            </a: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FCAAFB-E8AF-4D50-ACEE-3739211FD73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240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11785600" y="274641"/>
            <a:ext cx="36576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12800" y="274641"/>
            <a:ext cx="107696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5451FBF-E1FA-49A0-B260-24FE0C6682E9}" type="datetimeFigureOut">
              <a:rPr lang="en-US" smtClean="0"/>
              <a:pPr>
                <a:defRPr/>
              </a:pPr>
              <a:t>9/14/2022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
              </a:t>
            </a: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F2F970-0342-4C02-B685-C5F68CB011F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056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18F34E9-9920-4139-9FCB-BA751C00BE49}" type="datetimeFigureOut">
              <a:rPr lang="en-US" smtClean="0"/>
              <a:pPr>
                <a:defRPr/>
              </a:pPr>
              <a:t>9/14/2022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mtClean="0"/>
              <a:t>
              </a:t>
            </a: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5DB6959-181A-4402-95F9-EDAB21798E8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291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yarmolik10ru@yahoo.com" TargetMode="External"/><Relationship Id="rId2" Type="http://schemas.openxmlformats.org/officeDocument/2006/relationships/hyperlink" Target="mailto:yarmolik@bsuir.by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Заголовок 1"/>
          <p:cNvSpPr>
            <a:spLocks noGrp="1"/>
          </p:cNvSpPr>
          <p:nvPr>
            <p:ph type="ctrTitle"/>
          </p:nvPr>
        </p:nvSpPr>
        <p:spPr>
          <a:xfrm>
            <a:off x="1155700" y="541338"/>
            <a:ext cx="10164572" cy="3330575"/>
          </a:xfrm>
        </p:spPr>
        <p:txBody>
          <a:bodyPr>
            <a:normAutofit fontScale="90000"/>
          </a:bodyPr>
          <a:lstStyle/>
          <a:p>
            <a:r>
              <a:rPr lang="ru-RU" sz="5400" b="1" dirty="0" smtClean="0">
                <a:latin typeface="Times New Roman" pitchFamily="18" charset="0"/>
                <a:cs typeface="Times New Roman" pitchFamily="18" charset="0"/>
              </a:rPr>
              <a:t>ИТСЗАП</a:t>
            </a:r>
            <a:br>
              <a:rPr lang="ru-RU" sz="54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5400" b="1" dirty="0">
                <a:latin typeface="Times New Roman" pitchFamily="18" charset="0"/>
                <a:cs typeface="Times New Roman" pitchFamily="18" charset="0"/>
              </a:rPr>
              <a:t>Информационно-технические средства защиты авторского </a:t>
            </a:r>
            <a:r>
              <a:rPr lang="ru-RU" sz="5400" b="1" dirty="0" smtClean="0">
                <a:latin typeface="Times New Roman" pitchFamily="18" charset="0"/>
                <a:cs typeface="Times New Roman" pitchFamily="18" charset="0"/>
              </a:rPr>
              <a:t>права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55700" y="4210050"/>
            <a:ext cx="10036556" cy="264795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ru-RU" cap="none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БГУИР</a:t>
            </a:r>
          </a:p>
          <a:p>
            <a:pPr>
              <a:lnSpc>
                <a:spcPct val="80000"/>
              </a:lnSpc>
            </a:pPr>
            <a:r>
              <a:rPr lang="ru-RU" cap="none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КАФЕДРА ПОИТ</a:t>
            </a:r>
          </a:p>
          <a:p>
            <a:pPr>
              <a:lnSpc>
                <a:spcPct val="80000"/>
              </a:lnSpc>
            </a:pPr>
            <a:r>
              <a:rPr lang="ru-RU" i="1" cap="none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МАГИСТРАТУРА</a:t>
            </a:r>
          </a:p>
          <a:p>
            <a:pPr>
              <a:lnSpc>
                <a:spcPct val="80000"/>
              </a:lnSpc>
            </a:pPr>
            <a:r>
              <a:rPr lang="ru-RU" cap="none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ОЧНОЕ</a:t>
            </a:r>
            <a:r>
              <a:rPr lang="en-US" cap="none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cap="none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ЗАОЧНОЕ ОТДЕЛЕНИЕ</a:t>
            </a:r>
          </a:p>
          <a:p>
            <a:pPr>
              <a:lnSpc>
                <a:spcPct val="80000"/>
              </a:lnSpc>
            </a:pPr>
            <a:r>
              <a:rPr lang="ru-RU" cap="none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03313" y="1630363"/>
            <a:ext cx="8947150" cy="4618037"/>
          </a:xfrm>
        </p:spPr>
        <p:txBody>
          <a:bodyPr>
            <a:normAutofit/>
          </a:bodyPr>
          <a:lstStyle/>
          <a:p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Ярмолик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Вячеслав Николаевич,</a:t>
            </a:r>
          </a:p>
          <a:p>
            <a:pPr>
              <a:buFont typeface="Wingdings 3" pitchFamily="18" charset="2"/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Д.т.н., проф. каф. ПОИТ БГУИР</a:t>
            </a:r>
          </a:p>
          <a:p>
            <a:pPr>
              <a:buFont typeface="Wingdings 3" pitchFamily="18" charset="2"/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ауд. 215-4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раб. Тел. 293-80-20)</a:t>
            </a:r>
          </a:p>
          <a:p>
            <a:pPr>
              <a:buFont typeface="Wingdings 3" pitchFamily="18" charset="2"/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e-mail: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hlinkClick r:id="rId2"/>
              </a:rPr>
              <a:t>yarmolik</a:t>
            </a:r>
            <a:r>
              <a:rPr lang="en-US" u="sng" dirty="0" smtClean="0">
                <a:latin typeface="Times New Roman" pitchFamily="18" charset="0"/>
                <a:cs typeface="Times New Roman" pitchFamily="18" charset="0"/>
                <a:hlinkClick r:id="rId2"/>
              </a:rPr>
              <a:t>@bsuir.by</a:t>
            </a:r>
            <a:r>
              <a:rPr lang="ru-RU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u="sng" dirty="0" smtClean="0">
                <a:latin typeface="Times New Roman" pitchFamily="18" charset="0"/>
                <a:cs typeface="Times New Roman" pitchFamily="18" charset="0"/>
                <a:hlinkClick r:id="rId3"/>
              </a:rPr>
              <a:t>yarmolik10ru@yahoo.com</a:t>
            </a:r>
            <a:r>
              <a:rPr lang="en-US" u="sng" dirty="0" smtClean="0">
                <a:latin typeface="Times New Roman" pitchFamily="18" charset="0"/>
                <a:cs typeface="Times New Roman" pitchFamily="18" charset="0"/>
              </a:rPr>
              <a:t>  </a:t>
            </a:r>
            <a:endParaRPr lang="ru-RU" u="sng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ИТСЗАП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ИТСЗАП</a:t>
            </a:r>
            <a:endParaRPr lang="ru-RU" dirty="0" smtClean="0"/>
          </a:p>
        </p:txBody>
      </p:sp>
      <p:sp>
        <p:nvSpPr>
          <p:cNvPr id="22530" name="Объект 2"/>
          <p:cNvSpPr>
            <a:spLocks noGrp="1"/>
          </p:cNvSpPr>
          <p:nvPr>
            <p:ph idx="1"/>
          </p:nvPr>
        </p:nvSpPr>
        <p:spPr>
          <a:xfrm>
            <a:off x="1103313" y="1219200"/>
            <a:ext cx="8947150" cy="5029200"/>
          </a:xfrm>
        </p:spPr>
        <p:txBody>
          <a:bodyPr/>
          <a:lstStyle/>
          <a:p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План на семестр:</a:t>
            </a:r>
          </a:p>
          <a:p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1. Изучение теоретического материала 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2. Подготовка тематического реферата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3. Выполнение самостоятельных практических лабораторных заданий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4. Консультации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5. Сдача экзамена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ИТСЗАП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54" name="Объект 2"/>
          <p:cNvSpPr>
            <a:spLocks noGrp="1"/>
          </p:cNvSpPr>
          <p:nvPr>
            <p:ph idx="1"/>
          </p:nvPr>
        </p:nvSpPr>
        <p:spPr>
          <a:xfrm>
            <a:off x="256032" y="1219200"/>
            <a:ext cx="11935968" cy="5492496"/>
          </a:xfrm>
        </p:spPr>
        <p:txBody>
          <a:bodyPr>
            <a:noAutofit/>
          </a:bodyPr>
          <a:lstStyle/>
          <a:p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Теоретический материал</a:t>
            </a:r>
          </a:p>
          <a:p>
            <a:endParaRPr lang="ru-RU" b="1" u="sng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i="1" u="sng" dirty="0" smtClean="0">
                <a:latin typeface="Times New Roman" pitchFamily="18" charset="0"/>
                <a:cs typeface="Times New Roman" pitchFamily="18" charset="0"/>
              </a:rPr>
              <a:t>Изучаемые разделы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Введение.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1.1. Правовые аспекты защиты авторских прав и прав правообладателей. 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1.2. Международные законодательные соглашения и договора. Законодательство РБ и стран содружества по защите авторского права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6032" y="1275392"/>
            <a:ext cx="11722608" cy="56076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1.3. Понятие информационно-технических средств защиты интеллектуальных продуктов. 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1.4. Требования к секретности и целостности данных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Криптография. </a:t>
            </a:r>
            <a:endParaRPr lang="ru-RU" sz="32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2.1. Алгоритмы шифрования.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2.2. Современные симметричные алгоритмы шифрования.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2.3. Криптосистемы с открытым ключом. </a:t>
            </a:r>
            <a:endParaRPr lang="ru-RU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2.4. Потоковые </a:t>
            </a:r>
            <a:r>
              <a:rPr lang="ru-RU" sz="3200" dirty="0" err="1">
                <a:latin typeface="Times New Roman" pitchFamily="18" charset="0"/>
                <a:cs typeface="Times New Roman" pitchFamily="18" charset="0"/>
              </a:rPr>
              <a:t>криптостемы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2.5. Криптосистемы на базе эллиптических кривых.</a:t>
            </a:r>
          </a:p>
          <a:p>
            <a:pPr lvl="1">
              <a:lnSpc>
                <a:spcPct val="120000"/>
              </a:lnSpc>
            </a:pP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ИТСЗАП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564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34696" y="1610487"/>
            <a:ext cx="11722608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Цифровая </a:t>
            </a:r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подпись.</a:t>
            </a:r>
            <a:endParaRPr lang="ru-RU" sz="32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3.1. Определение цифровой подписи (от каких аргументов зависит, фазы).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3.2. Цифровая подпись на базе симметричных криптографических алгоритмов. Алгоритм цифровой подписи </a:t>
            </a:r>
            <a:r>
              <a:rPr lang="ru-RU" sz="3200" dirty="0" err="1">
                <a:latin typeface="Times New Roman" pitchFamily="18" charset="0"/>
                <a:cs typeface="Times New Roman" pitchFamily="18" charset="0"/>
              </a:rPr>
              <a:t>Matyas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dirty="0" err="1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dirty="0" err="1">
                <a:latin typeface="Times New Roman" pitchFamily="18" charset="0"/>
                <a:cs typeface="Times New Roman" pitchFamily="18" charset="0"/>
              </a:rPr>
              <a:t>Meyer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3.3. Функции хеширования (требования, наиболее часто используемые функции хеширования).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SHA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. Функции хеширования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SHA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3.4. Цифровая подпись на основе RSA. Электронная подпись по алгоритму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Elgamal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ИТСЗАП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734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ИТСЗАП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2880" y="1417638"/>
            <a:ext cx="11722608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3.5.  Слепая подпись. Доверенная подпись.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3.6. Доказательство с нулевым знанием.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Feige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-Fiat-Shamir Identification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Protocol.Guillon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Quisguater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Identification Protocol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ru-RU" sz="3200" dirty="0"/>
              <a:t> 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Стеганография.</a:t>
            </a:r>
            <a:endParaRPr lang="ru-RU" sz="32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4.1. Стеганография (Общая информация). Текстовая стеганография. Лексическая стеганография.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4.2. Стеганография, основанная на формальных грамматиках (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Mimicry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4.3. Графическая стеганография.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LSB 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метод. BPCS стеганография.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CPT </a:t>
            </a:r>
            <a:r>
              <a:rPr lang="ru-RU" sz="3200" dirty="0" err="1">
                <a:latin typeface="Times New Roman" pitchFamily="18" charset="0"/>
                <a:cs typeface="Times New Roman" pitchFamily="18" charset="0"/>
              </a:rPr>
              <a:t>стеганографический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 метод.</a:t>
            </a:r>
          </a:p>
          <a:p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750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ИТСЗАП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29183" y="1807794"/>
            <a:ext cx="11631167" cy="50131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4.4. Системы водяных знаков и оттисков пальцев.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Patchwork 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метод.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5. </a:t>
            </a:r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Физическая криптография.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5.1. Физическая криптография (физическая </a:t>
            </a:r>
            <a:r>
              <a:rPr lang="ru-RU" sz="3200" dirty="0" err="1">
                <a:latin typeface="Times New Roman" pitchFamily="18" charset="0"/>
                <a:cs typeface="Times New Roman" pitchFamily="18" charset="0"/>
              </a:rPr>
              <a:t>неклонируемая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 функция, свойства системы).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5.2. PUF типа «Арбитр». 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5.3. PUF типа «Кольцевой </a:t>
            </a:r>
            <a:r>
              <a:rPr lang="ru-RU" sz="3200" dirty="0" err="1">
                <a:latin typeface="Times New Roman" pitchFamily="18" charset="0"/>
                <a:cs typeface="Times New Roman" pitchFamily="18" charset="0"/>
              </a:rPr>
              <a:t>осцелятор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».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5.4. </a:t>
            </a:r>
            <a:r>
              <a:rPr lang="ru-RU" sz="3200" dirty="0" err="1">
                <a:latin typeface="Times New Roman" pitchFamily="18" charset="0"/>
                <a:cs typeface="Times New Roman" pitchFamily="18" charset="0"/>
              </a:rPr>
              <a:t>PUFы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 на базе статических запоминающих устройств.</a:t>
            </a:r>
          </a:p>
          <a:p>
            <a:pPr lvl="1">
              <a:lnSpc>
                <a:spcPct val="120000"/>
              </a:lnSpc>
            </a:pPr>
            <a:endParaRPr lang="ru-RU" sz="29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460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01168" y="2422571"/>
            <a:ext cx="1199083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6. </a:t>
            </a:r>
            <a:r>
              <a:rPr lang="ru-RU" sz="3200" b="1" dirty="0" err="1" smtClean="0">
                <a:latin typeface="Times New Roman" pitchFamily="18" charset="0"/>
                <a:cs typeface="Times New Roman" pitchFamily="18" charset="0"/>
              </a:rPr>
              <a:t>Обфускация</a:t>
            </a:r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32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6.1. Общие сведения. Запутывающее преобразование.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6.2. Лексическая </a:t>
            </a:r>
            <a:r>
              <a:rPr lang="ru-RU" sz="3200" dirty="0" err="1">
                <a:latin typeface="Times New Roman" pitchFamily="18" charset="0"/>
                <a:cs typeface="Times New Roman" pitchFamily="18" charset="0"/>
              </a:rPr>
              <a:t>обфускация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6.3. </a:t>
            </a:r>
            <a:r>
              <a:rPr lang="ru-RU" sz="3200" dirty="0" err="1">
                <a:latin typeface="Times New Roman" pitchFamily="18" charset="0"/>
                <a:cs typeface="Times New Roman" pitchFamily="18" charset="0"/>
              </a:rPr>
              <a:t>Обфускация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 данных программы и управления выполнением программы.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6.4. Метрики оценки степени запутанности кода программы.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ИТСЗАП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0760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ИТСЗАП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578" name="Объект 2"/>
          <p:cNvSpPr>
            <a:spLocks noGrp="1"/>
          </p:cNvSpPr>
          <p:nvPr>
            <p:ph idx="1"/>
          </p:nvPr>
        </p:nvSpPr>
        <p:spPr>
          <a:xfrm>
            <a:off x="219456" y="1365504"/>
            <a:ext cx="11649456" cy="5638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2. Тематический реферат</a:t>
            </a:r>
          </a:p>
          <a:p>
            <a:pPr marL="457200" lvl="1" indent="0">
              <a:buNone/>
            </a:pPr>
            <a:r>
              <a:rPr lang="ru-RU" sz="3200" i="1" dirty="0" smtClean="0">
                <a:latin typeface="Times New Roman" pitchFamily="18" charset="0"/>
                <a:cs typeface="Times New Roman" pitchFamily="18" charset="0"/>
              </a:rPr>
              <a:t>Темы рефератов для магистрантов очного и заочного отделения 2022г.</a:t>
            </a:r>
          </a:p>
          <a:p>
            <a:pPr marL="457200" lvl="1" indent="0">
              <a:buNone/>
            </a:pPr>
            <a:endParaRPr lang="ru-RU" sz="32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1.Темы рефератов выбираются из разделов представленных на предыдущих слайдах. </a:t>
            </a:r>
          </a:p>
          <a:p>
            <a:pPr marL="457200" lvl="1" indent="0">
              <a:buNone/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2. Согласуются с преподавателем. </a:t>
            </a:r>
          </a:p>
          <a:p>
            <a:pPr marL="457200" lvl="1" indent="0">
              <a:buNone/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3. Срок утверждения реферата до 1.10.2022</a:t>
            </a:r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pPr marL="971550" lvl="1" indent="-514350">
              <a:buAutoNum type="arabicPeriod"/>
            </a:pPr>
            <a:endParaRPr lang="ru-RU" sz="3200" dirty="0" smtClean="0">
              <a:latin typeface="Times New Roman" pitchFamily="18" charset="0"/>
              <a:cs typeface="Times New Roman" pitchFamily="18" charset="0"/>
            </a:endParaRPr>
          </a:p>
          <a:p>
            <a:pPr marL="971550" lvl="1" indent="-514350">
              <a:buAutoNum type="arabicPeriod"/>
            </a:pPr>
            <a:endParaRPr lang="ru-RU" sz="3200" dirty="0" smtClean="0">
              <a:latin typeface="Times New Roman" pitchFamily="18" charset="0"/>
              <a:cs typeface="Times New Roman" pitchFamily="18" charset="0"/>
            </a:endParaRPr>
          </a:p>
          <a:p>
            <a:pPr marL="971550" lvl="1" indent="-514350">
              <a:buAutoNum type="arabicPeriod"/>
            </a:pPr>
            <a:endParaRPr lang="ru-RU" sz="3200" dirty="0" smtClean="0">
              <a:latin typeface="Times New Roman" pitchFamily="18" charset="0"/>
              <a:cs typeface="Times New Roman" pitchFamily="18" charset="0"/>
            </a:endParaRPr>
          </a:p>
          <a:p>
            <a:pPr marL="971550" lvl="1" indent="-514350">
              <a:buAutoNum type="arabicPeriod"/>
            </a:pPr>
            <a:endParaRPr lang="ru-RU" sz="32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07848" y="1417638"/>
            <a:ext cx="11576304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Требования к реферату.</a:t>
            </a:r>
          </a:p>
          <a:p>
            <a:pPr lvl="1"/>
            <a:endParaRPr lang="ru-RU" sz="3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4.1.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Реферат представляет собой авторский результат магистранта, который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4.1.1. Не нарушает авторского права авторов литературных и других источников из которых получена информация, используемая в реферате.</a:t>
            </a:r>
          </a:p>
          <a:p>
            <a:pPr lvl="1"/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4.1.2. Включает не менее 25 страниц текста с иллюстрациями.</a:t>
            </a:r>
          </a:p>
          <a:p>
            <a:pPr lvl="1"/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4.1.3. Список библиографии не менее 30 источников.</a:t>
            </a:r>
          </a:p>
          <a:p>
            <a:pPr lvl="1"/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4.1.4.  Оформление аналогичное оформлению отчетов по лабораторным работам.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ИТСЗАП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148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03504" y="3133535"/>
            <a:ext cx="1084478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ru-RU" sz="32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РЕФЕРАТ ОБЯЗАТЕЛЬНО ВЫСЛАТЬ (ПРИНЕСТИ</a:t>
            </a:r>
            <a:r>
              <a:rPr lang="ru-RU" sz="32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 ЗАБЛАГОВРЕМЕННО </a:t>
            </a:r>
            <a:r>
              <a:rPr lang="ru-RU" sz="32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НА ПРОВЕРКУ ПЕРЕД ПЕЧАТЬЮ</a:t>
            </a:r>
            <a:r>
              <a:rPr lang="ru-RU" sz="32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!</a:t>
            </a:r>
          </a:p>
          <a:p>
            <a:pPr>
              <a:lnSpc>
                <a:spcPct val="90000"/>
              </a:lnSpc>
            </a:pPr>
            <a:endParaRPr lang="ru-RU" sz="3200" b="1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ru-RU" sz="3200" b="1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609600" y="457518"/>
            <a:ext cx="11204448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ИТСЗАП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975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ИТСЗАП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602" name="Объект 2"/>
          <p:cNvSpPr>
            <a:spLocks noGrp="1"/>
          </p:cNvSpPr>
          <p:nvPr>
            <p:ph idx="1"/>
          </p:nvPr>
        </p:nvSpPr>
        <p:spPr>
          <a:xfrm>
            <a:off x="1103312" y="1219200"/>
            <a:ext cx="9686607" cy="5638800"/>
          </a:xfrm>
        </p:spPr>
        <p:txBody>
          <a:bodyPr>
            <a:normAutofit fontScale="77500" lnSpcReduction="20000"/>
          </a:bodyPr>
          <a:lstStyle/>
          <a:p>
            <a:r>
              <a:rPr lang="ru-RU" sz="5800" b="1" u="sng" dirty="0" smtClean="0">
                <a:latin typeface="Times New Roman" pitchFamily="18" charset="0"/>
                <a:cs typeface="Times New Roman" pitchFamily="18" charset="0"/>
              </a:rPr>
              <a:t>План на семестр</a:t>
            </a:r>
            <a:r>
              <a:rPr lang="ru-RU" sz="5800" u="sng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ru-RU" sz="5800" i="1" dirty="0" smtClean="0"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ru-RU" sz="5800" i="1" dirty="0">
                <a:latin typeface="Times New Roman" pitchFamily="18" charset="0"/>
                <a:cs typeface="Times New Roman" pitchFamily="18" charset="0"/>
              </a:rPr>
              <a:t>Самостоятельные практическое лабораторные </a:t>
            </a:r>
            <a:r>
              <a:rPr lang="ru-RU" sz="5800" i="1" dirty="0" smtClean="0">
                <a:latin typeface="Times New Roman" pitchFamily="18" charset="0"/>
                <a:cs typeface="Times New Roman" pitchFamily="18" charset="0"/>
              </a:rPr>
              <a:t>задания</a:t>
            </a:r>
            <a:r>
              <a:rPr lang="ru-RU" sz="5800" i="1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sz="5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58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4000" b="1" dirty="0"/>
              <a:t> </a:t>
            </a:r>
            <a:endParaRPr lang="ru-RU" sz="4000" dirty="0"/>
          </a:p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1. ПРОСТЕЙШИЕ АЛГОРИТМЫ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ШИФРОВАНИЯ</a:t>
            </a:r>
          </a:p>
          <a:p>
            <a:endParaRPr lang="ru-RU" sz="4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. КРИПТОГРАФИЧЕСКИЕ СИСТЕМЫ С ОТКРЫТЫМ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КЛЮЧОМ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  <a:p>
            <a:endParaRPr lang="ru-RU" sz="4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. ЭЛЕКТРОННАЯ ЦИФРОВАЯ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ПОДПИСЬ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  <a:p>
            <a:endParaRPr lang="ru-RU" sz="4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. ДОКАЗАТЕЛЬСТВО С НУЛЕВЫМ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ЗНАНИЕМ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ru-RU" sz="5800" dirty="0"/>
          </a:p>
          <a:p>
            <a:pPr marL="0" lv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ИТСЗАП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03313" y="1219200"/>
            <a:ext cx="8947150" cy="50292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План на семестр:</a:t>
            </a:r>
          </a:p>
          <a:p>
            <a:pPr>
              <a:lnSpc>
                <a:spcPct val="90000"/>
              </a:lnSpc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Консультации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	по Средам (1 и 3 недели) 14:00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– 15:00, в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ауд. 215-4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	либо по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yarmolik</a:t>
            </a:r>
            <a:r>
              <a:rPr lang="en-US" u="sng" dirty="0" smtClean="0">
                <a:latin typeface="Times New Roman" pitchFamily="18" charset="0"/>
                <a:cs typeface="Times New Roman" pitchFamily="18" charset="0"/>
              </a:rPr>
              <a:t>@bsuir.by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u="sng" dirty="0" smtClean="0">
                <a:latin typeface="Times New Roman" pitchFamily="18" charset="0"/>
                <a:cs typeface="Times New Roman" pitchFamily="18" charset="0"/>
              </a:rPr>
              <a:t>В теме письма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магистрант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{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очное отделение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КиДВС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},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u="sng" dirty="0" smtClean="0">
                <a:latin typeface="Times New Roman" pitchFamily="18" charset="0"/>
                <a:cs typeface="Times New Roman" pitchFamily="18" charset="0"/>
              </a:rPr>
              <a:t>От кого (подпись)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Фамилия, Имя, № группы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u="sng" dirty="0" smtClean="0">
                <a:latin typeface="Times New Roman" pitchFamily="18" charset="0"/>
                <a:cs typeface="Times New Roman" pitchFamily="18" charset="0"/>
              </a:rPr>
              <a:t>Про что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вопросы по существу: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литература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{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инструментарий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практика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реферат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etc.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КиДВС</a:t>
            </a:r>
            <a:endParaRPr lang="ru-RU" dirty="0" smtClean="0"/>
          </a:p>
        </p:txBody>
      </p:sp>
      <p:sp>
        <p:nvSpPr>
          <p:cNvPr id="27650" name="Объект 2"/>
          <p:cNvSpPr>
            <a:spLocks noGrp="1"/>
          </p:cNvSpPr>
          <p:nvPr>
            <p:ph idx="1"/>
          </p:nvPr>
        </p:nvSpPr>
        <p:spPr>
          <a:xfrm>
            <a:off x="0" y="1219200"/>
            <a:ext cx="12191999" cy="5029200"/>
          </a:xfrm>
        </p:spPr>
        <p:txBody>
          <a:bodyPr>
            <a:noAutofit/>
          </a:bodyPr>
          <a:lstStyle/>
          <a:p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План на семестр: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Экзамен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УСЛОВИЯ ДОПУСКА К ЭКЗАМЕНУ:</a:t>
            </a:r>
          </a:p>
          <a:p>
            <a:pPr marL="971550" lvl="1" indent="-514350">
              <a:buAutoNum type="arabicPeriod"/>
            </a:pPr>
            <a:r>
              <a:rPr lang="ru-RU" sz="32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НАЛИЧИЕ ЗНАНИЙ ПО ПРЕДМЕТУ </a:t>
            </a:r>
            <a:endParaRPr lang="ru-RU" sz="3200" b="1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971550" lvl="1" indent="-514350">
              <a:buAutoNum type="arabicPeriod"/>
            </a:pPr>
            <a:r>
              <a:rPr lang="ru-RU" sz="32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НАЛИЧИЕ ВЫПОЛНЕННЫХ И ЗАЩИЩЕННЫХ ВСЕХ ПРАКТИЧЕСКИХ ЛАБОРАТОРНЫХ ЗАДАНИЙ</a:t>
            </a:r>
            <a:endParaRPr lang="ru-RU" sz="3200" b="1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971550" lvl="1" indent="-514350">
              <a:buAutoNum type="arabicPeriod"/>
            </a:pPr>
            <a:r>
              <a:rPr lang="ru-RU" sz="32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НАЛИЧИЕ ПРОВЕРЕННОГО И РАСПЕЧАТАННОГО РЕФЕРАТА</a:t>
            </a:r>
            <a:br>
              <a:rPr lang="ru-RU" sz="32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ru-RU" sz="3200" b="1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396</TotalTime>
  <Words>399</Words>
  <Application>Microsoft Office PowerPoint</Application>
  <PresentationFormat>Произвольный</PresentationFormat>
  <Paragraphs>107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Тема Office</vt:lpstr>
      <vt:lpstr>ИТСЗАП Информационно-технические средства защиты авторского права</vt:lpstr>
      <vt:lpstr>ИТСЗАП</vt:lpstr>
      <vt:lpstr>ИТСЗАП</vt:lpstr>
      <vt:lpstr>ИТСЗАП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ИТСЗАП</vt:lpstr>
      <vt:lpstr>Презентация PowerPoint</vt:lpstr>
      <vt:lpstr>Презентация PowerPoint</vt:lpstr>
      <vt:lpstr>ИТСЗАП</vt:lpstr>
      <vt:lpstr>ИТСЗАП</vt:lpstr>
      <vt:lpstr>КиДВС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Программное обеспечение цифрового проектирования</dc:title>
  <dc:creator>User</dc:creator>
  <cp:lastModifiedBy>Вячеслав</cp:lastModifiedBy>
  <cp:revision>52</cp:revision>
  <dcterms:created xsi:type="dcterms:W3CDTF">2014-12-10T19:17:38Z</dcterms:created>
  <dcterms:modified xsi:type="dcterms:W3CDTF">2022-09-14T12:04:17Z</dcterms:modified>
</cp:coreProperties>
</file>